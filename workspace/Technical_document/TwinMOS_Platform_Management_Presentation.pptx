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1DBF9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304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UNISOFT SYSTEM LTD  ·  PRESENTS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TwinMOS Digital Platform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digital transformation: website, content management,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 and brand protection — in one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TwinMOS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5897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automated tests passed  ·  0 security findings  ·  production-ready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the next 30 minutes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645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at a glance and what it delivers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Tour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website, admin console and the technology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3931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Customers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lead conversion and channel enablement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25880" y="5074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RMA and the anti-counterfeit advantage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1645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platform compares to market alternatives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78040" y="2788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Superiority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 and quality gates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3886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78040" y="3931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 and what happens after launch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replaces four disconnected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pages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legacy site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38328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modules covering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sales &amp; support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21792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form types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SLA-tracked workflows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5256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05256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four disconnected systems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+ separate forms inbox + spreadsheet inventory + email-based support — no audit trail, no SLA, no single source of truth.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one integrated platform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product, page, lead, RMA case, serial and partner managed in one console with full audit trail, role-based access and 2FA.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Unisoft System Ltd · delivered production-ready with verified test evidence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Surfaces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Admin Console + API sharing a single database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www.twinmos.com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pages: shop, product details, compatibility finder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Anti-counterfeit serial verification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 tracker, careers, where-to-buy locator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CDN-fast — no server to patch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Staff-only CMS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modules · 5 roles · two-factor auth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products, leads, RMA, partners, media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audit-trailed for 12 months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editing: visual builders + previews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backbone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endpoints powering web + admin + partners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with gated price files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security: rate limits, validation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Deploy-ready for ERP / CRM integrations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PostgreSQL database · changes in the admin console appear on the website through an automated content bridge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world-class public website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sit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6949440" cy="390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design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pages faithfully implementing the approved brand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page loads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Static-first architecture, CDN-cached worldwide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840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built-in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sitemap, hreflang for 9 languages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design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Alt-text compliance tracked across the media library; built to WCAG 2.2 AA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Customers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that converts</a:t>
            </a:r>
            <a:endParaRPr lang="en-US" sz="1500" dirty="0"/>
          </a:p>
        </p:txBody>
      </p:sp>
      <p:pic>
        <p:nvPicPr>
          <p:cNvPr id="4" name="Image 0" descr="F:/software_project/Software_Project_14/TwinMOS_Corporate_Website/Technical_document/screenshots/site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66560" cy="38061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6766560" cy="3806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pic>
        <p:nvPicPr>
          <p:cNvPr id="6" name="Image 1" descr="F:/software_project/Software_Project_14/TwinMOS_Corporate_Website/Technical_document/screenshots/site_prod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4023360" cy="22677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645920"/>
            <a:ext cx="4023360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8952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search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generation, capacity, interface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589520" y="47274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product pages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warranty, galleries, datasheets, variants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589520" y="52943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tool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product comparison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89520" y="58613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edits in the CMS appear on the site instantly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Anti-counterfeit serial verification — a first in the industry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site_sn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8368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658368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7830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verification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check any TwinMOS serial before purchase — instant genuine / unverified verdict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2834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registry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serial registered; verification history logged with IP and country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0" y="38862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detection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scan flags serials verified from &gt;5 distinct IP addresses in 24 hours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0" y="49377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protection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 cases verify authenticity before any warranty service is approved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8978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Kingston nor Corsair offers a public serial-number lookup: Kingston's verification page is a label-inspection guide only, and Corsair requires a support ticket. An instant registry check is a first among major memory brands — a differentiator TwinMOS can market.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Excellence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that retains customers</a:t>
            </a:r>
            <a:endParaRPr lang="en-US" sz="1500" dirty="0"/>
          </a:p>
        </p:txBody>
      </p:sp>
      <p:pic>
        <p:nvPicPr>
          <p:cNvPr id="4" name="Image 0" descr="F:/software_project/Software_Project_14/TwinMOS_Corporate_Website/Technical_document/screenshots/site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400800" cy="36004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6400800" cy="36004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1920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7-state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 pipeline with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history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23960" y="1920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min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82396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file a support ticket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page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332720" y="19202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033272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 status tracking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support articles and FAQ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4279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RMA tracker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follow their case through repair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49011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routing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routed to the right team with SLA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55229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from the case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email reply; speed-to-lead tracked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console — your team's daily cockpit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adm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6949440" cy="390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modules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products, leads, RMA, partners, careers, media, translations, users, audit, settings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 from viewer to super-admin; every action logged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840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with backup codes; session revocation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searches everything — leads, products, content, RMA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 minutes, not days</a:t>
            </a:r>
            <a:endParaRPr lang="en-US" sz="1500" dirty="0"/>
          </a:p>
        </p:txBody>
      </p:sp>
      <p:pic>
        <p:nvPicPr>
          <p:cNvPr id="4" name="Image 0" descr="F:/software_project/Software_Project_14/TwinMOS_Corporate_Website/Technical_document/screenshots/admin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6949440" cy="390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page builder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drag-and-drop block types with live responsive preview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606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review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draft; editors approve with visual diff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revision history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 snapshots the prior version; one-click rollback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343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publishing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future date; the promoter publishes automatically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media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toolbar with direct media-library image insertion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TOUR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serials, media and access — managed in-house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admin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2697480" cy="1517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2697480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products with specs, imagery, variants and SEO fields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shop and facets stay in sync automatically</a:t>
            </a:r>
            <a:endParaRPr lang="en-US" sz="1150" dirty="0"/>
          </a:p>
        </p:txBody>
      </p:sp>
      <p:pic>
        <p:nvPicPr>
          <p:cNvPr id="8" name="Image 1" descr="F:/software_project/Software_Project_14/TwinMOS_Corporate_Website/Technical_document/screenshots/admin_seri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83080"/>
            <a:ext cx="2697480" cy="15179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783080"/>
            <a:ext cx="2697480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8328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Registry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379476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serials imported, verified and tracked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scan flags suspected gray-market units</a:t>
            </a:r>
            <a:endParaRPr lang="en-US" sz="1150" dirty="0"/>
          </a:p>
        </p:txBody>
      </p:sp>
      <p:pic>
        <p:nvPicPr>
          <p:cNvPr id="12" name="Image 2" descr="F:/software_project/Software_Project_14/TwinMOS_Corporate_Website/Technical_document/screenshots/admin_med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2697480" cy="15179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17920" y="1783080"/>
            <a:ext cx="2697480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21792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Library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17920" y="379476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assets with folders and usage tracking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Alt-text compliance audited per image</a:t>
            </a:r>
            <a:endParaRPr lang="en-US" sz="1150" dirty="0"/>
          </a:p>
        </p:txBody>
      </p:sp>
      <p:pic>
        <p:nvPicPr>
          <p:cNvPr id="16" name="Image 3" descr="F:/software_project/Software_Project_14/TwinMOS_Corporate_Website/Technical_document/screenshots/admi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783080"/>
            <a:ext cx="2697480" cy="15179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052560" y="1783080"/>
            <a:ext cx="2697480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052560" y="3429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052560" y="379476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roles, two-factor auth, session revocation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staff action written to the audit trail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answered before it goes cold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admin_submi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6949440" cy="390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Speed-to-lead measured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First-response time tracked on every lead — contacted within 5 minutes, a lead is 21× more likely to qualify than after 30 minutes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8803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enforcement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response deadlines; overdue leads surface on the dashboard's risk queue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3931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reply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customer directly from the case; the reply is logged and timestamps the first response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983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routing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 queue, per-staff assignment, priority and status filters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Lead Response Management study (Oldroyd · MIT · InsideSales.com)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Enablement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where-to-buy locator — managed from the console</a:t>
            </a:r>
            <a:endParaRPr lang="en-US" sz="1500" dirty="0"/>
          </a:p>
        </p:txBody>
      </p:sp>
      <p:pic>
        <p:nvPicPr>
          <p:cNvPr id="4" name="Image 0" descr="F:/software_project/Software_Project_14/TwinMOS_Corporate_Website/Technical_document/screenshots/site_where_to_bu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66560" cy="38061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6766560" cy="3806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pic>
        <p:nvPicPr>
          <p:cNvPr id="6" name="Image 1" descr="F:/software_project/Software_Project_14/TwinMOS_Corporate_Website/Technical_document/screenshots/admin_partn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4023360" cy="22677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645920"/>
            <a:ext cx="4023360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8952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directory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cards with region, status, cities, contacts — instantly live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589520" y="47274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price files, MDF documents for authorized partners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589520" y="52943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marketplaces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storefronts listed alongside physical channels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89520" y="58613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Batch-update the directory from channel manifests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CONFIDENCE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compatibility finder removes purchase hesitation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site_compat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766560" cy="38061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6766560" cy="3806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device lookup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→ brand → model: validated memory guidance in 3 clicks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2834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QVL matrix managed in-house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capacity, slot count, speed and SSD upgrade path per device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3840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inline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finder suggests the right product categories per device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846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returns</a:t>
            </a:r>
            <a:endParaRPr lang="en-US" sz="13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buy the correct module the first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TwinMOS platform compares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TwinMOS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Kingston / Corsair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agency 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serial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Instant registry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page only — no SN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offered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 finder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QVL, CMS-managed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Device configurators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Static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RMA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Public 7-state tracker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Via support portals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Email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+ shop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One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Separate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Developer-needed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9 locales, RTL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16+ languages (Kingston)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Typically not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Gated assets,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Login portals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offered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&amp;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Every change logged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kingston.com product-verification, configurator and support pages; corsair.com warranty and support pages — reviewed October 2026. Agency-site column reflects common market practice.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SUPERIORITY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built for scale, speed and 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pages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Static-first + CDN: the public site needs no server compute; pages are served from the edge worldwide.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Edge-served HTML · zero server compute per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bundles swap atomically; the API restarts in seconds with systemd auto-recovery.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maintenance windows for content updates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security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OWASP-equivalent scan: 14 check classes, 0 findings. Rate limiting, 2FA, audit trail, parameter-bound queries only.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October 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PostgreSQL database behind all three surfaces; no syncing, no drift.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flow: console → database → website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claims — measured, verified, documented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4884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end-to-end tests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48840" y="2194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suites covering auth, MFA, RBAC races, CMS workflow, catalog, leads, RMA, serials, media, security headers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81812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findings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8120" y="2194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OWASP-equivalent check classes · 35 requests · headers, CORS, authz, injection, XSS, rate limits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14884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&amp; asset integrity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4389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pages crawled · 35 unique link targets · 0 broken links · 0 missing assets · 0 error pages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0" y="3840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81812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8120" y="4389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framework with hreflang alternates and RTL (Arabic) verified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trail: phase-evidence documents P1–P7 + forensic audit (Oct 2026), reproducible from the repository.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After-sales operations that scale without headcount</a:t>
            </a:r>
            <a:endParaRPr lang="en-US" sz="3200" dirty="0"/>
          </a:p>
        </p:txBody>
      </p:sp>
      <p:pic>
        <p:nvPicPr>
          <p:cNvPr id="4" name="Image 0" descr="F:/software_project/Software_Project_14/TwinMOS_Corporate_Website/Technical_document/screenshots/admin_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6949440" cy="390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RMA pipeline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states from intake to resolution — nothing lives in an inbox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28803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Serial-linked cases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verifies the serial against the factory registry before warranty service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3931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SLA-driven queue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cases surface first; assignees, priorities and full case history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983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self-service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tracker answers “where is my case?” without a phone 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careers page that recruits while you sleep</a:t>
            </a:r>
            <a:endParaRPr lang="en-US" sz="1500" dirty="0"/>
          </a:p>
        </p:txBody>
      </p:sp>
      <p:pic>
        <p:nvPicPr>
          <p:cNvPr id="4" name="Image 0" descr="F:/software_project/Software_Project_14/TwinMOS_Corporate_Website/Technical_document/screenshots/site_car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66560" cy="38061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6766560" cy="3806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pic>
        <p:nvPicPr>
          <p:cNvPr id="6" name="Image 1" descr="F:/software_project/Software_Project_14/TwinMOS_Corporate_Website/Technical_document/screenshots/admin_jo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4023360" cy="22677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645920"/>
            <a:ext cx="4023360" cy="2267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89520" y="4160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listings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location, type and salary band — managed in the console, live instantly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589520" y="48737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pipeline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arrive as leads with résumé attachments and route through the same SLA workflow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589520" y="55869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brand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benefits and open roles presented with polished, agency-grade design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nine languages, every customer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16352" y="178308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17830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العربية (RTL)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84064" y="178308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4064" y="17830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हिन्दी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51776" y="178308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51776" y="17830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19488" y="178308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19488" y="178308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简体中文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517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816352" y="265176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26517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84064" y="265176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26517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51776" y="2651760"/>
            <a:ext cx="2084832" cy="685800"/>
          </a:xfrm>
          <a:prstGeom prst="roundRect">
            <a:avLst>
              <a:gd name="adj" fmla="val 46667"/>
            </a:avLst>
          </a:prstGeom>
          <a:solidFill>
            <a:srgbClr val="0F1F3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26517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framework built-in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emits hreflang alternates — search engines serve the right language automatically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453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verified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renders right-to-left correctly, including navigation and forms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11149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channel pages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Where-to-buy and partner directories localised per market from one console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76986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expand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tenth language is configuration, not a rebuild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delivery to market leadership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0E9F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go-live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 using the verified runbook — DNS cutover to the new platform. Effort: days, not weeks.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965960"/>
            <a:ext cx="566928" cy="566928"/>
          </a:xfrm>
          <a:prstGeom prst="ellipse">
            <a:avLst/>
          </a:prstGeom>
          <a:solidFill>
            <a:srgbClr val="0E9F7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optimise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analytics and search-console instrumentation; baseline conversion on the 15 form types.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965960"/>
            <a:ext cx="566928" cy="566928"/>
          </a:xfrm>
          <a:prstGeom prst="ellipse">
            <a:avLst/>
          </a:prstGeom>
          <a:solidFill>
            <a:srgbClr val="0E9F7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marketing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anti-counterfeit verifier as a campaign; syndicate product data to marketplaces and search.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62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18320" y="1965960"/>
            <a:ext cx="566928" cy="566928"/>
          </a:xfrm>
          <a:prstGeom prst="ellipse">
            <a:avLst/>
          </a:prstGeom>
          <a:solidFill>
            <a:srgbClr val="0E9F7E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1832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integrations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418320" y="3291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API to ERP / CRM; expand the partner portal with pricing and MDF workflows.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1832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 today: approve phase 1 — the deployment runbook, secrets checklist and 10-chapter technical manual are already delivered.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878A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6400800"/>
          </a:xfrm>
          <a:prstGeom prst="ellipse">
            <a:avLst/>
          </a:prstGeom>
          <a:solidFill>
            <a:srgbClr val="1DBF9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3566160"/>
            <a:ext cx="5943600" cy="5943600"/>
          </a:xfrm>
          <a:prstGeom prst="ellipse">
            <a:avLst/>
          </a:prstGeom>
          <a:solidFill>
            <a:srgbClr val="14304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645920" y="29718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take TwinMOS to every customer — on every channel, in every language,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by technology no competitor offers today.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3444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6636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16636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13232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9828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9828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UNISOFT SYSTEM LTD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TwinMOS Management · October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5B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Unisoft System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TwinMOS Digital Platform — Management Presentation</dc:title>
  <dc:subject>Features, benefits, competitive analysis, customer reach and technical superiority</dc:subject>
  <dc:creator>Unisoft System Ltd</dc:creator>
  <cp:lastModifiedBy>Unisoft System Ltd</cp:lastModifiedBy>
  <cp:revision>1</cp:revision>
  <dcterms:created xsi:type="dcterms:W3CDTF">2026-10-02T13:36:44Z</dcterms:created>
  <dcterms:modified xsi:type="dcterms:W3CDTF">2026-10-02T13:36:44Z</dcterms:modified>
</cp:coreProperties>
</file>